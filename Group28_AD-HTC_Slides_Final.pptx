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88"/>
                </a:solidFill>
                <a:latin typeface="Consolas"/>
              </a:defRPr>
            </a:pPr>
            <a:r>
              <a:t>MEG 315 — APPLIED THERMODYNAMICS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onsolas"/>
              </a:defRPr>
            </a:pPr>
            <a:r>
              <a:t>AD-HTC Integrated</a:t>
            </a:r>
            <a:br/>
            <a:r>
              <a:t>Biorefinery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80D0"/>
                </a:solidFill>
                <a:latin typeface="Consolas"/>
              </a:defRPr>
            </a:pPr>
            <a:r>
              <a:t>Otto Cycle  •  Rankine Cycle  •  Heat Integration  •  FastAPI  • 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Group 28</a:t>
            </a:r>
            <a:br/>
            <a:r>
              <a:t>Department of Mechanical Engineering</a:t>
            </a:r>
            <a:br/>
            <a:r>
              <a:t>University of Lagos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Interactive dashboard simulating the AD-HTC biorefinery system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Otto Cycle (biogas ICE) — T-s diagram with 4 state points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Rankine Steam Cycle — h-s Mollier diagram with pump, boiler, turbine, condenser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Heat integration analysis — CHP waste heat vs AD + HTC demand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12 real biomass feedstocks with published data (stored in SQLite)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FastAPI backend with 4 RESTful API endpoints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SQLite database for feedstock data and calculation history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Animated SVG process schematic with live calculated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THEORY: WHAT IS AD-HTC?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Background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Anaerobic Digestion (AD):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• Bacteria decompose organic matter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 without oxygen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• Inputs: biomass (manure, food waste, etc.)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• Outputs: biogas (CH₄ + CO₂) + digestate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• Operates at 35–40°C (mesophilic)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Hydrothermal Carbonization (HTC):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• Wet biomass heated under pressure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 (180–260°C, 10–40 bar)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• Converts digestate → hydrochar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• Hydrochar: solid biofuel ≈ lignite coal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  <a:r>
              <a:t>Why integrate them?</a:t>
            </a: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  <a:r>
              <a:t>1. AD biogas → fuel for gas engine (electricity)</a:t>
            </a: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  <a:r>
              <a:t>2. Engine exhaust → waste heat recovered</a:t>
            </a: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  <a:r>
              <a:t>3. Waste heat → steam for HTC reactor</a:t>
            </a: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  <a:r>
              <a:t>4. HTC converts digestate → valuable hydrochar</a:t>
            </a: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  <a:r>
              <a:t>5. Result: closed-loop biorefinery maximising</a:t>
            </a:r>
          </a:p>
          <a:p>
            <a:pPr>
              <a:spcAft>
                <a:spcPts val="600"/>
              </a:spcAft>
              <a:defRPr sz="1100">
                <a:solidFill>
                  <a:srgbClr val="4A80D0"/>
                </a:solidFill>
                <a:latin typeface="Calibri"/>
              </a:defRPr>
            </a:pPr>
            <a:r>
              <a:t>   energy recovery from biomass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AD-HTC FUEL-ENHANCED GAS POWER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System schematic (Energhx, 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[Place cycle_schematic.png in project folder to auto-embed]</a:t>
            </a:r>
            <a:br/>
            <a:br/>
            <a:r>
              <a:t>Biomass → Homogenizer → AD (moisture-rich) + HTC (moisture-lean)</a:t>
            </a:r>
            <a:br/>
            <a:r>
              <a:t>AD → Biogas → Combustion → Compressor/Turbine → Electricity</a:t>
            </a:r>
            <a:br/>
            <a:r>
              <a:t>HTC Steam Cycle: Boiler ↔ Reactor (closed loop)</a:t>
            </a:r>
            <a:br/>
            <a:r>
              <a:t>Exhaust → Waste Heat Recovery → Steam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onsolas"/>
              </a:defRPr>
            </a:pPr>
            <a:r>
              <a:t>Source: Energhx Research Group, Faculty of Engineering, University of Lagos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THEORY: THERMODYNAMIC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Otto gas cycle and Rankine steam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GAS POWER CYCLE (Otto / Brayton)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1→2: Isentropic compression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   T₂ = T₁ × r^(γ−1)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2→3: Constant-volume combustion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   Q_in = Cp × (T₃ − T₂)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3→4: Isentropic expansion (power)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   T₄ = T₃ / r^(γ−1)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4→1: Heat rejection (exhaust)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   W_net = W_turb − W_comp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  <a:r>
              <a:t>HTC STEAM CYCLE (Rankine)</a:t>
            </a: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  <a:r>
              <a:t>A→B: Pump — raises pressure</a:t>
            </a: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  <a:r>
              <a:t>     w_pump = vf × ΔP × 100</a:t>
            </a: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  <a:r>
              <a:t>B→C: Boiler — waste heat → steam</a:t>
            </a: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  <a:r>
              <a:t>     Superheated at P = 60 bar</a:t>
            </a: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  <a:r>
              <a:t>C→D: HTC reactor — steam heats</a:t>
            </a: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  <a:r>
              <a:t>     digestate for carbonization</a:t>
            </a: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  <a:r>
              <a:t>D→A: Condenser — steam returns</a:t>
            </a:r>
          </a:p>
          <a:p>
            <a:pPr>
              <a:spcAft>
                <a:spcPts val="600"/>
              </a:spcAft>
              <a:defRPr sz="1000">
                <a:solidFill>
                  <a:srgbClr val="F0D060"/>
                </a:solidFill>
                <a:latin typeface="Calibri"/>
              </a:defRPr>
            </a:pPr>
            <a:r>
              <a:t>     to liquid, cycle repeats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TECHNOLOGY STACK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Full-stack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Python / FastAPI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RESTful API for cycle calculations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Feedstock storage + calculation history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Pydantic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Input/output data validation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HTML / CSS / JavaScript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Interactive dashboard UI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Charts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Chart.js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T-s, h-s, energy, mass, heat charts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Styling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Tailwind CSS (CDN)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Responsive layout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Schematic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SVG (programmatic)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Animated process flow diagram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Fonts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Google Fonts (DM Sans/Mono)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Typography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RESTful API — main.py (FastAPI)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Returns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/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Serve dashboard HTML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HTMLResponse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/api/feedstocks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All 12 feedstocks from SQLite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JSON array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/api/analyze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Run full cycle analysis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JSON result + stores in DB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/api/history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Past calculations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JSON array from DB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onsolas"/>
              </a:defRPr>
            </a:pPr>
            <a:r>
              <a:t>POST /api/analyze accepts:</a:t>
            </a:r>
            <a:br/>
            <a:r>
              <a:t>  feedstock_key, feed_rate, T1, compression_ratio, T3, mass_flow_air,</a:t>
            </a:r>
            <a:br/>
            <a:r>
              <a:t>  t_steam_C, p_cond, eta_turbine, eta_pump, htc_temp</a:t>
            </a:r>
            <a:br/>
            <a:br/>
            <a:r>
              <a:t>Returns: otto{}, rankine{}, mass_balance{}, heat{}, olr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SQLite — database.py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feedstocks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INTEGER PK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Auto-increment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feedstocks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key / name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Identifier &amp; display name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feedstocks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ts, vs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Total / volatile solids fraction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feedstocks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biogas_yield, ch4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m³/kg VS, methane fraction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feedstocks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htc_yield, htc_hhv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Hydrochar yield &amp; HHV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calculations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id, timestamp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INT, TEXT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Record ID &amp; ISO timestamp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calculations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feedstock, inputs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TEXT, JSON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Key &amp; full input params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calculations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otto_results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All Otto cycle outputs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calculations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rankine_results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All Rankine cycle outputs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calculations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heat_balance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kW surplus/deficit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FEEDSTOCK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12 real biomass types stored in SQLite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Feedstock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TS%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VS%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Biogas (m³/kg VS)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CH₄%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HTC Yield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Cow Manure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0.280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Food Waste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0.550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Rice Husk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0.250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Microalgae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0.450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Wood Chips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0.200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Corn Stover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0.338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Sugarcane Bagasse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0.310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onsolas"/>
              </a:defRPr>
            </a:pPr>
            <a:r>
              <a:t>+ Sewage Sludge, Pig Manure, MSW, Cassava Peel, Palm EFB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OTTO CYCLE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T₁=298K, r=10, T₃=1200K, ṁ_air=50 kg/s (from API)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Process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 (K)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 (kJ/kg·K)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Intake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298.0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Compression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748.5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Combustion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1200.0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1.542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Exhaust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477.7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1.542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80D0"/>
                </a:solidFill>
                <a:latin typeface="Consolas"/>
              </a:defRPr>
            </a:pPr>
            <a:r>
              <a:t>W_comp = 452.8   W_turb = 829.2   W_net = 376.4 kJ/kg   η = 72.6%</a:t>
            </a:r>
            <a:br/>
            <a:r>
              <a:t>Electrical Power = 18819 kW   |   Thermal Recovery = 4642 kW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RANKINE CYCLE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P=60 bar, T_steam=500°C, P_cond=0.06 bar (from API)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 (kJ/kg)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 (kJ/kg·K)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Pump Inlet (sat. liquid)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359.9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1.1450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Pump Outlet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367.4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1.1450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Turbine Inlet (500°C)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3423.1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6.8826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Turbine Exit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2570.5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7.3016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D060"/>
                </a:solidFill>
                <a:latin typeface="Consolas"/>
              </a:defRPr>
            </a:pPr>
            <a:r>
              <a:t>w_net = 845.1 kJ/kg    η_rankine = 27.7%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HEAT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CHP waste heat vs AD + HTC thermal demand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CHP waste heat = ṁ_air × Cp × (T₄ − T₁) × 0.45  (45% recovery factor)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AD demand = (feed kg/s) × Cp_water × (37°C − ambient)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HTC demand = (digestate kg/s) × Cp × (T_HTC − 37°C)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Heat balance = CHP output − AD demand − HTC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D060"/>
                </a:solidFill>
                <a:latin typeface="Consolas"/>
              </a:defRPr>
            </a:pPr>
            <a:r>
              <a:t>SURPLUS → System is self-sufficient (no external heating)</a:t>
            </a:r>
            <a:br/>
            <a:r>
              <a:t>DEFICIT → External heating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B060"/>
                </a:solidFill>
                <a:latin typeface="Consolas"/>
              </a:defRPr>
            </a:pPr>
            <a:r>
              <a:t>API test: Heat balance = +4555.89 kW (SURPLUS) for Cow Manure at 10 t/day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MASS &amp; ENERGY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Cow Manure at 10 t/day (from API)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Volatile solids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1440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kg/day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Biogas volume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m³/day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Methane volume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242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m³/day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Biogas mass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484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kg/day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Dry digestate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kg/day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Hydrochar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276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kg/day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Screenshots from running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[Insert screenshot: Dashboard with KPI cards and sidebar]</a:t>
            </a:r>
          </a:p>
          <a:p>
            <a:pPr>
              <a:spcAft>
                <a:spcPts val="6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[Insert screenshot: T-s diagram (Otto) and h-s Mollier (Rankine)]</a:t>
            </a:r>
          </a:p>
          <a:p>
            <a:pPr>
              <a:spcAft>
                <a:spcPts val="6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[Insert screenshot: Energy &amp; mass balance charts]</a:t>
            </a:r>
          </a:p>
          <a:p>
            <a:pPr>
              <a:spcAft>
                <a:spcPts val="6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[Insert screenshot: Heat integration chart with surplus/deficit badge]</a:t>
            </a:r>
          </a:p>
          <a:p>
            <a:pPr>
              <a:spcAft>
                <a:spcPts val="6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[Insert screenshot: Animated process schematic]</a:t>
            </a:r>
          </a:p>
          <a:p>
            <a:pPr>
              <a:spcAft>
                <a:spcPts val="6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[Insert screenshot: FastAPI Swagger docs at /docs]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HOW TO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1.  Install dependencies: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    pip install -r requirements.txt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2.  Start the server: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    python main.py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3.  Open in browser: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    http://localhost:8000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4.  API docs (auto-generated):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    http://localhost:8000/docs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5.  Or open ad-htc-biomass-v2.html directly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 (standalone mode, no API)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Full-stack AD-HTC biorefinery simulation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FastAPI backend with 4 RESTful endpoints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SQLite database — feedstock storage + calculation history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Otto cycle (biogas ICE) with T-s diagram — η = 72.6%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Rankine steam cycle with h-s Mollier diagram — η = 27.7%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Heat integration: CHP waste heat vs AD + HTC demand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12 biomass feedstocks with real published data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Animated process schematic with live values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Zero-installation option: standalone HTML also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Group 28  •  MEG 315  •  University of Lagos  •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