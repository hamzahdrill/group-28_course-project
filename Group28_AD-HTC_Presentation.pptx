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71" r:id="rId8"/>
    <p:sldId id="259" r:id="rId9"/>
    <p:sldId id="272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Power</c:v>
                </c:pt>
              </c:strCache>
            </c:strRef>
          </c:tx>
          <c:spPr>
            <a:solidFill>
              <a:srgbClr val="0B7A7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B7A7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3A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597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BBBBB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A2744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Electrical (ICE)</c:v>
                </c:pt>
                <c:pt idx="1">
                  <c:v>Thermal Recovery</c:v>
                </c:pt>
                <c:pt idx="2">
                  <c:v>HTC Heat Input</c:v>
                </c:pt>
                <c:pt idx="3">
                  <c:v>Losses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5720</c:v>
                </c:pt>
                <c:pt idx="1">
                  <c:v>3192</c:v>
                </c:pt>
                <c:pt idx="2">
                  <c:v>183</c:v>
                </c:pt>
                <c:pt idx="3">
                  <c:v>1890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2D374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2D374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05b4b33f-3dd4-43f2-beca-51692913af20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05840"/>
            <a:ext cx="109728" cy="3108960"/>
          </a:xfrm>
          <a:prstGeom prst="rect">
            <a:avLst/>
          </a:prstGeom>
          <a:solidFill>
            <a:srgbClr val="C5973A"/>
          </a:solidFill>
          <a:ln w="12700">
            <a:solidFill>
              <a:srgbClr val="C59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60120"/>
            <a:ext cx="7772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AD-HTC Integrated Biorefinery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74980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C4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Thermodynamic Design of an Anaerobic Digestion –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A8C4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Hydrothermal Carbonization Power System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MEG 315 — Applied Thermodynamics  ·  University of Lagos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3657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5973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Group 28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498080" y="1463040"/>
            <a:ext cx="1097280" cy="10972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461772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090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Based on: Potrč et al. (2025), Energies 18(2), 334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02920"/>
            <a:ext cx="7315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Designing a waste-to-energy system that converts biomass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i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into electricity and solid fuel through integrated thermodynamic cycles.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2377440"/>
            <a:ext cx="2743200" cy="24688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5146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090672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Feedstock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3520440"/>
            <a:ext cx="24688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E0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Wet biomass — including cassava peel, sugarcane bagasse, and municipal organic waste — enters the AD reactor as primary feedstock.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337560" y="2377440"/>
            <a:ext cx="2743200" cy="24688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5146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4720" y="3090672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Dual-Process Conversion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474720" y="3520440"/>
            <a:ext cx="24688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E0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 produces biogas (CH₄ + CO₂) and digestate. HTC converts wet digestate into energy-dense hydrochar at 180–260°C.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309360" y="2377440"/>
            <a:ext cx="2743200" cy="24688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25146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46520" y="3090672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Power Generation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446520" y="3520440"/>
            <a:ext cx="24688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E0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Biogas drives a biogas ICE (Otto cycle) for electricity. Waste heat cascades to a Rankine steam cycle and heats the HTC reactor.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Understanding AD-HTC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256032"/>
            <a:ext cx="64008" cy="56692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8321040" cy="0"/>
          </a:xfrm>
          <a:prstGeom prst="line">
            <a:avLst/>
          </a:prstGeom>
          <a:noFill/>
          <a:ln w="12700">
            <a:solidFill>
              <a:srgbClr val="C8C0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411480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51560"/>
            <a:ext cx="4114800" cy="6400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170432"/>
            <a:ext cx="3200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Anaerobic Digestion (AD)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1664208"/>
            <a:ext cx="3840480" cy="2834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Process: </a:t>
            </a:r>
            <a:r>
              <a:rPr lang="en-US" sz="11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Microorganisms break down organic matter in the absence of oxygen.
</a:t>
            </a:r>
            <a:r>
              <a:rPr lang="en-US" sz="11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Products: </a:t>
            </a:r>
            <a:r>
              <a:rPr lang="en-US" sz="11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Biogas (55–65% CH₄ + CO₂) and digestate slurry.
</a:t>
            </a:r>
            <a:r>
              <a:rPr lang="en-US" sz="11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Temperature: </a:t>
            </a:r>
            <a:r>
              <a:rPr lang="en-US" sz="11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Mesophilic operation at ~37°C (HRT = 25 days).
</a:t>
            </a:r>
            <a:r>
              <a:rPr lang="en-US" sz="11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Parameter: </a:t>
            </a:r>
            <a:r>
              <a:rPr lang="en-US" sz="11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Organic Loading Rate (OLR) in kg VS/m³·day determines reactor sizing and biogas yield.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051560"/>
            <a:ext cx="406908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1051560"/>
            <a:ext cx="4069080" cy="64008"/>
          </a:xfrm>
          <a:prstGeom prst="rect">
            <a:avLst/>
          </a:prstGeom>
          <a:solidFill>
            <a:srgbClr val="C5973A"/>
          </a:solidFill>
          <a:ln w="12700">
            <a:solidFill>
              <a:srgbClr val="C5973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1430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170432"/>
            <a:ext cx="3200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Hydrothermal Carbonization (HTC)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00600" y="1664208"/>
            <a:ext cx="3794760" cy="2834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Process: </a:t>
            </a:r>
            <a:r>
              <a:rPr lang="en-US" sz="11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Thermochemical conversion of wet digestate under subcritical water conditions.
</a:t>
            </a:r>
            <a:r>
              <a:rPr lang="en-US" sz="11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Conditions: </a:t>
            </a:r>
            <a:r>
              <a:rPr lang="en-US" sz="11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 = 180–260°C, autogenous pressure (10–50 bar).
</a:t>
            </a:r>
            <a:r>
              <a:rPr lang="en-US" sz="11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Product: </a:t>
            </a:r>
            <a:r>
              <a:rPr lang="en-US" sz="11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Hydrochar — HHV of 14,500–24,000 kJ/kg depending on feedstock.
</a:t>
            </a:r>
            <a:r>
              <a:rPr lang="en-US" sz="115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Advantage: </a:t>
            </a:r>
            <a:r>
              <a:rPr lang="en-US" sz="11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pre-drying required — processes wet digestate directly, improving overall energy efficiency.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System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256032"/>
            <a:ext cx="64008" cy="56692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8321040" cy="0"/>
          </a:xfrm>
          <a:prstGeom prst="line">
            <a:avLst/>
          </a:prstGeom>
          <a:noFill/>
          <a:ln w="12700">
            <a:solidFill>
              <a:srgbClr val="C8C0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44880"/>
            <a:ext cx="8321040" cy="7620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1170432"/>
            <a:ext cx="3200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1664208"/>
            <a:ext cx="3840480" cy="2834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349240" y="1170432"/>
            <a:ext cx="3200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00600" y="1664208"/>
            <a:ext cx="3794760" cy="2834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endParaRPr lang="en-US" sz="115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1051560"/>
            <a:ext cx="9143365" cy="40849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Theory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256032"/>
            <a:ext cx="64008" cy="56692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8321040" cy="0"/>
          </a:xfrm>
          <a:prstGeom prst="line">
            <a:avLst/>
          </a:prstGeom>
          <a:noFill/>
          <a:ln w="12700">
            <a:solidFill>
              <a:srgbClr val="C8C0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842391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0"/>
            </a:solidFill>
            <a:prstDash val="solid"/>
          </a:ln>
        </p:spPr>
        <p:txBody>
          <a:bodyPr/>
          <a:p>
            <a:pPr algn="l"/>
            <a:r>
              <a:rPr lang="en-US" altLang="en-US"/>
              <a:t>It is an integrated AD–HTC facility used for model validation and parameter extraction. The system comprises three semi-continuous anaerobic digesters (AD) operating in parallel, each feeding into a centralized biogas collection manifold.</a:t>
            </a:r>
            <a:endParaRPr lang="en-US" altLang="en-US"/>
          </a:p>
          <a:p>
            <a:pPr algn="l"/>
            <a:r>
              <a:rPr lang="en-US" altLang="en-US"/>
              <a:t>     The recovered thermal energy in the biogas produced by the AD is routed to the hydrothermal carbonization (HTC) reactor, establishing a partially self-sustaining loop wherein AD-derived energy satisfies a portion of HTC’s thermal demand.</a:t>
            </a:r>
            <a:endParaRPr lang="en-US" altLang="en-US"/>
          </a:p>
          <a:p>
            <a:pPr algn="l"/>
            <a:r>
              <a:rPr lang="en-US" altLang="en-US"/>
              <a:t>     The HTC reactor is feed with biomass feedstock for in-direct heating supply from a steam cycle of the HTC system, including hot-water tank, boiler, heat exchanger, and throttle valve.The biogas produced by AD is used as fuel in a gas power cycle.</a:t>
            </a:r>
            <a:endParaRPr lang="en-US" altLang="en-US"/>
          </a:p>
          <a:p>
            <a:pPr algn="l"/>
            <a:r>
              <a:rPr lang="en-US" altLang="en-US"/>
              <a:t>     In this project, the cycle is modelled as an air-standard Otto cycle (internal combustion engine).The waste heat from the gas turbine exhaust is captured by a Heat Recovery Steam Generator (HRSG/Boiler) to produce superheated steam. This steam powers the HTC reactor through a Rankine-type heating loop</a:t>
            </a:r>
            <a:endParaRPr lang="en-US" altLang="en-US"/>
          </a:p>
        </p:txBody>
      </p:sp>
      <p:sp>
        <p:nvSpPr>
          <p:cNvPr id="9" name="Text 6"/>
          <p:cNvSpPr/>
          <p:nvPr/>
        </p:nvSpPr>
        <p:spPr>
          <a:xfrm>
            <a:off x="521208" y="1975104"/>
            <a:ext cx="252374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2523744"/>
            <a:ext cx="2468880" cy="2331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1480" y="1039495"/>
            <a:ext cx="8418830" cy="76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355848" y="1975104"/>
            <a:ext cx="252374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383280" y="2523744"/>
            <a:ext cx="2468880" cy="2331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190488" y="1975104"/>
            <a:ext cx="252374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217920" y="2523744"/>
            <a:ext cx="2468880" cy="2331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Core Subsystems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256032"/>
            <a:ext cx="64008" cy="56692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8321040" cy="0"/>
          </a:xfrm>
          <a:prstGeom prst="line">
            <a:avLst/>
          </a:prstGeom>
          <a:noFill/>
          <a:ln w="12700">
            <a:solidFill>
              <a:srgbClr val="C8C0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27432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51560"/>
            <a:ext cx="2743200" cy="6400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170432"/>
            <a:ext cx="713232" cy="71323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904" y="1316736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1208" y="1975104"/>
            <a:ext cx="252374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3A6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Fuel Processing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2523744"/>
            <a:ext cx="2468880" cy="2331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Wet biomass is fed into the AD reactor. Biogas (CH₄-rich) is extracted for the ICE. Digestate solids proceed to HTC to form hydrochar — both serving as system fuels.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7432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743200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06240" y="1170432"/>
            <a:ext cx="713232" cy="7132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544" y="1316736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55848" y="1975104"/>
            <a:ext cx="252374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3A6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Biogas ICE — Otto Cycle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383280" y="2523744"/>
            <a:ext cx="2468880" cy="2331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biogas-fuelled internal combustion engine operates on the Otto cycle (4-state T-s analysis). Compression ratio r = 10 drives isentropic compression; peak combustion T₃ = 1200 K. Net work per kg: W_net = cp(T₃−T₄) − cp(T₂−T₁).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80760" y="1051560"/>
            <a:ext cx="27432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080760" y="1051560"/>
            <a:ext cx="2743200" cy="64008"/>
          </a:xfrm>
          <a:prstGeom prst="rect">
            <a:avLst/>
          </a:prstGeom>
          <a:solidFill>
            <a:srgbClr val="C5973A"/>
          </a:solidFill>
          <a:ln w="12700">
            <a:solidFill>
              <a:srgbClr val="C5973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040880" y="1170432"/>
            <a:ext cx="713232" cy="713232"/>
          </a:xfrm>
          <a:prstGeom prst="ellipse">
            <a:avLst/>
          </a:prstGeom>
          <a:solidFill>
            <a:srgbClr val="C5973A"/>
          </a:solidFill>
          <a:ln w="12700">
            <a:solidFill>
              <a:srgbClr val="C5973A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1316736"/>
            <a:ext cx="420624" cy="4206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90488" y="1975104"/>
            <a:ext cx="252374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3A6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Rankine Steam Cycle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217920" y="2523744"/>
            <a:ext cx="2468880" cy="2331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Waste heat from ICE exhaust powers a steam bottoming cycle at P = 6.0 MPa (60 bar). Four states: A (pump in) → B (pump out) → C (turbine in) → D (turbine out), analyzed on the h-s Mollier diagram.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Process Thermodynamics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256032"/>
            <a:ext cx="64008" cy="56692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8321040" cy="0"/>
          </a:xfrm>
          <a:prstGeom prst="line">
            <a:avLst/>
          </a:prstGeom>
          <a:noFill/>
          <a:ln w="12700">
            <a:solidFill>
              <a:srgbClr val="C8C0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4114800" cy="3794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T-s Diagram — Otto Cycle (Biogas ICE)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3840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Biogas drives a 4-stroke ICE modelled as an ideal Otto cycle. The T-s map shows isentropic compression (1→2), constant-volume heat addition (2→3), isentropic expansion (3→4), and constant-volume exhaust (4→1).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02920" y="2450592"/>
          <a:ext cx="3931920" cy="2240280"/>
        </p:xfrm>
        <a:graphic>
          <a:graphicData uri="http://schemas.openxmlformats.org/drawingml/2006/table">
            <a:tbl>
              <a:tblPr/>
              <a:tblGrid>
                <a:gridCol w="1051560"/>
                <a:gridCol w="1371600"/>
                <a:gridCol w="1508760"/>
              </a:tblGrid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4B8A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4B8A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Process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4B8A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Key Relation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55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D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 → Intake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D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Start of cycle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D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T₁ = 298 K, s₁ = 1.0 kJ/kg·K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55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D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 → Compress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D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Isentropic (s=const)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D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T₂ = T₁ · rᵞ⁻¹ ≈ 748 K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55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D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 → Combust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D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Const. volume (Q-in)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D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T₃ = 1200 K (peak)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55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D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 → Exhaust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D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Isentropic (s=const)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D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T₄ = T₃/rᵞ⁻¹ ≈ 478 K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55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663440" y="1051560"/>
            <a:ext cx="4069080" cy="3794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0600" y="1143000"/>
            <a:ext cx="3794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5973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h-s Mollier Diagram — Rankine Cycle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800600" y="1572768"/>
            <a:ext cx="37947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Steam cycle fixed at P = 6.0 MPa (60 bar). Mollier (h-s) analysis captures pump work, boiler heat addition, turbine work output, and condenser rejection. Turbine efficiency η_st = 0.85.</a:t>
            </a:r>
            <a:endParaRPr lang="en-US" sz="1050" dirty="0"/>
          </a:p>
        </p:txBody>
      </p:sp>
      <p:graphicFrame>
        <p:nvGraphicFramePr>
          <p:cNvPr id="12" name="Table 1"/>
          <p:cNvGraphicFramePr>
            <a:graphicFrameLocks noGrp="1"/>
          </p:cNvGraphicFramePr>
          <p:nvPr/>
        </p:nvGraphicFramePr>
        <p:xfrm>
          <a:off x="4754880" y="2450592"/>
          <a:ext cx="3886200" cy="224028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417320"/>
              </a:tblGrid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59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59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Process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597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Key Values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55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D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 — Pump In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D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Sat. liquid at p_cond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D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h_A = 359.9 kJ/kg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55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D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 — Pump Out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D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Compressed liquid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D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h_B = h_A + w_pump/η_p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55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D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 — Turbine In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D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Superheated steam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D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h_C = 3423.1 kJ/kg @500°C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55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D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 — Turbine Out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D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Wet/dry steam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D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h_D = h_C − η_st(h_C − h_Ds)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5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5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Heat Integration &amp; Pinch Analysis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2834640"/>
            <a:ext cx="6400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8C4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CHP waste heat cascades from ICE → AD → HTC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0" y="2697480"/>
            <a:ext cx="2743200" cy="54864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Heat Integration — Pinch Analysis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256032"/>
            <a:ext cx="64008" cy="56692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8321040" cy="0"/>
          </a:xfrm>
          <a:prstGeom prst="line">
            <a:avLst/>
          </a:prstGeom>
          <a:noFill/>
          <a:ln w="12700">
            <a:solidFill>
              <a:srgbClr val="C8C0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1783080" cy="1234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16916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CHP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(ICE Exhaust)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1691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E8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Q_avail = 45% of thermal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40280" y="1801368"/>
            <a:ext cx="228600" cy="0"/>
          </a:xfrm>
          <a:prstGeom prst="line">
            <a:avLst/>
          </a:prstGeom>
          <a:noFill/>
          <a:ln w="25400">
            <a:solidFill>
              <a:srgbClr val="0B7A75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719072"/>
            <a:ext cx="201168" cy="2011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926080" y="1188720"/>
            <a:ext cx="1783080" cy="123444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71800" y="1234440"/>
            <a:ext cx="16916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Reactor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971800" y="1828800"/>
            <a:ext cx="1691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E8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Q_AD = ṁ·Cp·(37°C − T₁)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709160" y="1801368"/>
            <a:ext cx="228600" cy="0"/>
          </a:xfrm>
          <a:prstGeom prst="line">
            <a:avLst/>
          </a:prstGeom>
          <a:noFill/>
          <a:ln w="25400">
            <a:solidFill>
              <a:srgbClr val="0B7A75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719072"/>
            <a:ext cx="201168" cy="20116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394960" y="1188720"/>
            <a:ext cx="1783080" cy="1234440"/>
          </a:xfrm>
          <a:prstGeom prst="rect">
            <a:avLst/>
          </a:prstGeom>
          <a:solidFill>
            <a:srgbClr val="C5973A"/>
          </a:solidFill>
          <a:ln w="12700">
            <a:solidFill>
              <a:srgbClr val="C5973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40680" y="1234440"/>
            <a:ext cx="16916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HTC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Reactor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440680" y="1828800"/>
            <a:ext cx="1691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E8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Q_HTC = ṁ_dig·Cp·(T_HTC−37°C)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7178040" y="1801368"/>
            <a:ext cx="228600" cy="0"/>
          </a:xfrm>
          <a:prstGeom prst="line">
            <a:avLst/>
          </a:prstGeom>
          <a:noFill/>
          <a:ln w="25400">
            <a:solidFill>
              <a:srgbClr val="0B7A75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719072"/>
            <a:ext cx="201168" cy="20116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315200" y="1188720"/>
            <a:ext cx="1783080" cy="1234440"/>
          </a:xfrm>
          <a:prstGeom prst="rect">
            <a:avLst/>
          </a:prstGeom>
          <a:solidFill>
            <a:srgbClr val="5A3A1A"/>
          </a:solidFill>
          <a:ln w="12700">
            <a:solidFill>
              <a:srgbClr val="5A3A1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360920" y="1234440"/>
            <a:ext cx="16916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Surplus /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Deficit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7360920" y="1828800"/>
            <a:ext cx="1691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E8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ΔQ = Q_avail − Q_AD − Q_HTC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411480" y="2743200"/>
            <a:ext cx="27432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11480" y="2743200"/>
            <a:ext cx="2743200" cy="54864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21208" y="2834640"/>
            <a:ext cx="2523744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AD Heating Demand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21208" y="3218688"/>
            <a:ext cx="2523744" cy="1664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digester must be maintained at mesophilic temperature (37°C). Heat required: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Q_AD = (ṁ_feed / 86400) × 4180 × (37 − T_amb)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10 t/day cow manure at T_amb = 25°C: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Q_AD ≈ 5.8 kW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3246120" y="2743200"/>
            <a:ext cx="27432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246120" y="2743200"/>
            <a:ext cx="2743200" cy="54864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355848" y="2834640"/>
            <a:ext cx="2523744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HTC Reactor Demand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3355848" y="3218688"/>
            <a:ext cx="2523744" cy="1664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HTC requires elevating wet digestate from 37°C to 180–260°C: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Q_HTC = (ṁ_digestate / 86400) × 4000 × (T_HTC − 37)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T_HTC = 220°C, digestate = 8,730 kg/d: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Q_HTC ≈ 18.3 kW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080760" y="2743200"/>
            <a:ext cx="27432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080760" y="2743200"/>
            <a:ext cx="2743200" cy="54864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190488" y="2834640"/>
            <a:ext cx="2523744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CHP Thermal Output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6190488" y="3218688"/>
            <a:ext cx="2523744" cy="1664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CHP (ICE) recovers 45% of exhaust thermal energy: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Q_therm = ṁ_air × cp_gas × (T₄ − T₁) × 0.45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m_air = 50 kg/s, r = 10, T₃ = 1200 K: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Q_therm ≈ 7,085 kW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Mass &amp; Energy Balance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2834640"/>
            <a:ext cx="6400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8C4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Quantifying every stream from feedstock to output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0" y="2697480"/>
            <a:ext cx="2743200" cy="54864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Mass Balance — Feedstock to Products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256032"/>
            <a:ext cx="64008" cy="56692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8321040" cy="0"/>
          </a:xfrm>
          <a:prstGeom prst="line">
            <a:avLst/>
          </a:prstGeom>
          <a:noFill/>
          <a:ln w="12700">
            <a:solidFill>
              <a:srgbClr val="C8C0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78992"/>
            <a:ext cx="1920240" cy="1234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19202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10 t/d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664208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Biomass Feed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956816"/>
            <a:ext cx="19202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C4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Cow manure @ 10 t/day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96312" y="1078992"/>
            <a:ext cx="1920240" cy="123444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6312" y="1097280"/>
            <a:ext cx="19202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403 m³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96312" y="1664208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Biogas Volume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96312" y="1956816"/>
            <a:ext cx="19202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C4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 output per day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81144" y="1078992"/>
            <a:ext cx="1920240" cy="1234440"/>
          </a:xfrm>
          <a:prstGeom prst="rect">
            <a:avLst/>
          </a:prstGeom>
          <a:solidFill>
            <a:srgbClr val="4A3510"/>
          </a:solidFill>
          <a:ln w="12700">
            <a:solidFill>
              <a:srgbClr val="4A35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81144" y="1097280"/>
            <a:ext cx="19202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2,016 kg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81144" y="1664208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Hydrochar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81144" y="1956816"/>
            <a:ext cx="19202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C4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HTC output per day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65976" y="1078992"/>
            <a:ext cx="1920240" cy="1234440"/>
          </a:xfrm>
          <a:prstGeom prst="rect">
            <a:avLst/>
          </a:prstGeom>
          <a:solidFill>
            <a:srgbClr val="1A4A3A"/>
          </a:solidFill>
          <a:ln w="12700">
            <a:solidFill>
              <a:srgbClr val="1A4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65976" y="1097280"/>
            <a:ext cx="19202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0.64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65976" y="1664208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65976" y="1956816"/>
            <a:ext cx="19202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C4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kg VS/m³·day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2450592"/>
            <a:ext cx="8321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Daily Mass Flow Summary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/>
        </p:nvGraphicFramePr>
        <p:xfrm>
          <a:off x="411480" y="2816352"/>
          <a:ext cx="8321040" cy="210312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  <a:gridCol w="2286000"/>
                <a:gridCol w="3291840"/>
              </a:tblGrid>
              <a:tr h="2628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Stream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Parameter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Formula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Value (10 t/day, Cow Manure)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Feed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 Solids (TS)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ṁ_feed × TS%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1,800 kg/day (18%)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Volatile Solids (VS)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TS × VS%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1,440 kg VS/day (80%)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 → Biogas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Biogas Volume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VS × 0.280 m³/kg VS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403 m³/day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Biogas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CH₄ Content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V_biogas × CH₄%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242 m³ CH₄/day (60%)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 → Digestate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Dry Digestate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VS × (1 − 0.60)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576 kg/day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HTC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Hydrochar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Dry digestate × HTC yield (48%)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277 kg/day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HTC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Hydrochar HHV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14,500 kJ/kg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4,016 MJ/day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Performance Targets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274320"/>
            <a:ext cx="64008" cy="64008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3931920" cy="3931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Optimised Energy Recovery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1645920" cy="1143000"/>
          </a:xfrm>
          <a:prstGeom prst="rect">
            <a:avLst/>
          </a:prstGeom>
          <a:solidFill>
            <a:srgbClr val="0D2550"/>
          </a:solidFill>
          <a:ln w="12700">
            <a:solidFill>
              <a:srgbClr val="0D2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17904"/>
            <a:ext cx="1645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~30%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2176272"/>
            <a:ext cx="16459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Otto Cycle Efficiency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1481328"/>
            <a:ext cx="1645920" cy="1143000"/>
          </a:xfrm>
          <a:prstGeom prst="rect">
            <a:avLst/>
          </a:prstGeom>
          <a:solidFill>
            <a:srgbClr val="0D2550"/>
          </a:solidFill>
          <a:ln w="12700">
            <a:solidFill>
              <a:srgbClr val="0D25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517904"/>
            <a:ext cx="1645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~38%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377440" y="2176272"/>
            <a:ext cx="16459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9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Rankine Cycle Efficiency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999232"/>
            <a:ext cx="3566160" cy="0"/>
          </a:xfrm>
          <a:prstGeom prst="line">
            <a:avLst/>
          </a:prstGeom>
          <a:noFill/>
          <a:ln w="12700">
            <a:solidFill>
              <a:srgbClr val="2D5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90672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B0C0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Combined System Performance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456432"/>
            <a:ext cx="3657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η_Otto = 1 − 1/r^(γ−1)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3767328"/>
            <a:ext cx="3657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η_Rankine = w_net / q_boiler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078224"/>
            <a:ext cx="3657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w_net = (h_C − h_D) − w_pump/η_p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0" y="1005840"/>
            <a:ext cx="4160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Energy Output Breakdown (kW)</a:t>
            </a:r>
            <a:endParaRPr lang="en-US" sz="13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4434840" y="1389888"/>
          <a:ext cx="42976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Interactive Dashboard — UI/UX Design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256032"/>
            <a:ext cx="64008" cy="56692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8321040" cy="0"/>
          </a:xfrm>
          <a:prstGeom prst="line">
            <a:avLst/>
          </a:prstGeom>
          <a:noFill/>
          <a:ln w="12700">
            <a:solidFill>
              <a:srgbClr val="C8C0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41148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51560"/>
            <a:ext cx="4114800" cy="54864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52144"/>
            <a:ext cx="3794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The Digital Dashboard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794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Translating complex thermodynamics into an intuitive, browser-based interface.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020824"/>
            <a:ext cx="384048" cy="38404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066544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2002536"/>
            <a:ext cx="33832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KPI cards — biogas, electricity, hydrochar, OLR — update instantly with slider changes.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697480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74320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24128" y="2679192"/>
            <a:ext cx="33832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T-s Otto cycle and h-s Mollier diagrams render from real thermodynamic state calculations.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374136"/>
            <a:ext cx="384048" cy="384048"/>
          </a:xfrm>
          <a:prstGeom prst="ellipse">
            <a:avLst/>
          </a:prstGeom>
          <a:solidFill>
            <a:srgbClr val="4A7A1A"/>
          </a:solidFill>
          <a:ln w="12700">
            <a:solidFill>
              <a:srgbClr val="4A7A1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41985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24128" y="3355848"/>
            <a:ext cx="33832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12-feedstock database: cow manure, cassava, palm EFB, rice husk, sugarcane bagasse, and more.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4050792"/>
            <a:ext cx="384048" cy="384048"/>
          </a:xfrm>
          <a:prstGeom prst="ellipse">
            <a:avLst/>
          </a:prstGeom>
          <a:solidFill>
            <a:srgbClr val="C5973A"/>
          </a:solidFill>
          <a:ln w="12700">
            <a:solidFill>
              <a:srgbClr val="C5973A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409651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24128" y="4032504"/>
            <a:ext cx="33832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Pinch Analysis panel shows CHP heat surplus or deficit vs. AD + HTC demand in real time.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663440" y="1051560"/>
            <a:ext cx="4069080" cy="38404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736592" y="1115568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● MEG 315 — AD-HTC Dashboard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4754880" y="1444752"/>
            <a:ext cx="914400" cy="6400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754880" y="1481328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403 m³/d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754880" y="1801368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Biogas</a:t>
            </a:r>
            <a:endParaRPr lang="en-US" sz="750" dirty="0"/>
          </a:p>
        </p:txBody>
      </p:sp>
      <p:sp>
        <p:nvSpPr>
          <p:cNvPr id="26" name="Shape 20"/>
          <p:cNvSpPr/>
          <p:nvPr/>
        </p:nvSpPr>
        <p:spPr>
          <a:xfrm>
            <a:off x="5742432" y="1444752"/>
            <a:ext cx="914400" cy="6400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742432" y="1481328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5,720 kW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742432" y="1801368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Elec</a:t>
            </a:r>
            <a:endParaRPr lang="en-US" sz="750" dirty="0"/>
          </a:p>
        </p:txBody>
      </p:sp>
      <p:sp>
        <p:nvSpPr>
          <p:cNvPr id="29" name="Shape 23"/>
          <p:cNvSpPr/>
          <p:nvPr/>
        </p:nvSpPr>
        <p:spPr>
          <a:xfrm>
            <a:off x="6729984" y="1444752"/>
            <a:ext cx="914400" cy="6400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729984" y="1481328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277 kg/d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729984" y="1801368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Hydrochr</a:t>
            </a:r>
            <a:endParaRPr lang="en-US" sz="750" dirty="0"/>
          </a:p>
        </p:txBody>
      </p:sp>
      <p:sp>
        <p:nvSpPr>
          <p:cNvPr id="32" name="Shape 26"/>
          <p:cNvSpPr/>
          <p:nvPr/>
        </p:nvSpPr>
        <p:spPr>
          <a:xfrm>
            <a:off x="7717536" y="1444752"/>
            <a:ext cx="914400" cy="6400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717536" y="1481328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29.6%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7717536" y="1801368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Otto η</a:t>
            </a:r>
            <a:endParaRPr lang="en-US" sz="750" dirty="0"/>
          </a:p>
        </p:txBody>
      </p:sp>
      <p:sp>
        <p:nvSpPr>
          <p:cNvPr id="35" name="Text 29"/>
          <p:cNvSpPr/>
          <p:nvPr/>
        </p:nvSpPr>
        <p:spPr>
          <a:xfrm>
            <a:off x="4754880" y="2194560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Energy Distribution (kW)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4800600" y="2788920"/>
            <a:ext cx="685800" cy="123444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4800600" y="4050792"/>
            <a:ext cx="685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Elec</a:t>
            </a:r>
            <a:endParaRPr lang="en-US" sz="700" dirty="0"/>
          </a:p>
        </p:txBody>
      </p:sp>
      <p:sp>
        <p:nvSpPr>
          <p:cNvPr id="38" name="Shape 32"/>
          <p:cNvSpPr/>
          <p:nvPr/>
        </p:nvSpPr>
        <p:spPr>
          <a:xfrm>
            <a:off x="5806440" y="3337560"/>
            <a:ext cx="6858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5806440" y="4050792"/>
            <a:ext cx="685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Thermal</a:t>
            </a:r>
            <a:endParaRPr lang="en-US" sz="700" dirty="0"/>
          </a:p>
        </p:txBody>
      </p:sp>
      <p:sp>
        <p:nvSpPr>
          <p:cNvPr id="40" name="Shape 34"/>
          <p:cNvSpPr/>
          <p:nvPr/>
        </p:nvSpPr>
        <p:spPr>
          <a:xfrm>
            <a:off x="6812280" y="3986784"/>
            <a:ext cx="685800" cy="36576"/>
          </a:xfrm>
          <a:prstGeom prst="rect">
            <a:avLst/>
          </a:prstGeom>
          <a:solidFill>
            <a:srgbClr val="C5973A"/>
          </a:solidFill>
          <a:ln w="12700">
            <a:solidFill>
              <a:srgbClr val="C5973A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6812280" y="4050792"/>
            <a:ext cx="685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HTC</a:t>
            </a:r>
            <a:endParaRPr lang="en-US" sz="700" dirty="0"/>
          </a:p>
        </p:txBody>
      </p:sp>
      <p:sp>
        <p:nvSpPr>
          <p:cNvPr id="42" name="Shape 36"/>
          <p:cNvSpPr/>
          <p:nvPr/>
        </p:nvSpPr>
        <p:spPr>
          <a:xfrm>
            <a:off x="7818120" y="3611880"/>
            <a:ext cx="685800" cy="41148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7818120" y="4050792"/>
            <a:ext cx="685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Loss</a:t>
            </a:r>
            <a:endParaRPr lang="en-US" sz="700" dirty="0"/>
          </a:p>
        </p:txBody>
      </p:sp>
      <p:sp>
        <p:nvSpPr>
          <p:cNvPr id="44" name="Text 38"/>
          <p:cNvSpPr/>
          <p:nvPr/>
        </p:nvSpPr>
        <p:spPr>
          <a:xfrm>
            <a:off x="4754880" y="4279392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T-s  |  h-s  |  Schematic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Feedstock Comparison — Key Properties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256032"/>
            <a:ext cx="64008" cy="56692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8321040" cy="0"/>
          </a:xfrm>
          <a:prstGeom prst="line">
            <a:avLst/>
          </a:prstGeom>
          <a:noFill/>
          <a:ln w="12700">
            <a:solidFill>
              <a:srgbClr val="C8C0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8321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system supports 12 biomass types. Feedstock choice drives biogas yield, hydrochar quality, and overall system efficiency.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411480" y="1371600"/>
          <a:ext cx="8321040" cy="3566160"/>
        </p:xfrm>
        <a:graphic>
          <a:graphicData uri="http://schemas.openxmlformats.org/drawingml/2006/table">
            <a:tbl>
              <a:tblPr/>
              <a:tblGrid>
                <a:gridCol w="1737360"/>
                <a:gridCol w="594360"/>
                <a:gridCol w="594360"/>
                <a:gridCol w="1463040"/>
                <a:gridCol w="685800"/>
                <a:gridCol w="1005840"/>
                <a:gridCol w="1325880"/>
              </a:tblGrid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Feedstock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TS 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VS 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Biogas Yield (m³/kg VS)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CH₄ 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HTC Yield 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HHV (kJ/kg)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Cow Manure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18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0.280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48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14,500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Food / Kitchen Waste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0.550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62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45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19,800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Sewage Sludge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0.300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58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15,000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Corn Stover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88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85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0.338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55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55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21,500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Rice Husk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0.250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52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58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18,200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Sugarcane Bagasse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0.310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54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52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20,100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Cassava Peel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88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86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0.420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58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48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19,200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Palm EFB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78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85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0.270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53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20,800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Project Conclusion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256032"/>
            <a:ext cx="64008" cy="56692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8321040" cy="0"/>
          </a:xfrm>
          <a:prstGeom prst="line">
            <a:avLst/>
          </a:prstGeom>
          <a:noFill/>
          <a:ln w="12700">
            <a:solidFill>
              <a:srgbClr val="C8C0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78992"/>
            <a:ext cx="83210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78992"/>
            <a:ext cx="54864" cy="89611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0759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170432"/>
            <a:ext cx="7132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Thermodynamic Integration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51560" y="1508760"/>
            <a:ext cx="71323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Successfully coupled AD biogas production with a biogas ICE (Otto cycle) and a steam bottoming cycle (Rankine, P = 6.0 MPa), demonstrating viability of waste-to-energy conversion.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1480" y="2066544"/>
            <a:ext cx="83210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2066544"/>
            <a:ext cx="54864" cy="89611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95144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2157984"/>
            <a:ext cx="7132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Zero-Waste Design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051560" y="2496312"/>
            <a:ext cx="71323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Digestate from AD feeds directly into the HTC reactor — eliminating solid waste and producing marketable hydrochar solid fuel (HHV up to 24,000 kJ/kg for wood chips).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11480" y="3054096"/>
            <a:ext cx="83210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11480" y="3054096"/>
            <a:ext cx="54864" cy="89611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82696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3145536"/>
            <a:ext cx="7132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Heat Integration via Pinch Analysis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051560" y="3483864"/>
            <a:ext cx="71323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CHP exhaust heat satisfies AD heating demand (~6 kW) and HTC reactor input (~18 kW), with substantial thermal surplus available for additional processes.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11480" y="4041648"/>
            <a:ext cx="83210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11480" y="4041648"/>
            <a:ext cx="54864" cy="896112"/>
          </a:xfrm>
          <a:prstGeom prst="rect">
            <a:avLst/>
          </a:prstGeom>
          <a:solidFill>
            <a:srgbClr val="C5973A"/>
          </a:solidFill>
          <a:ln w="12700">
            <a:solidFill>
              <a:srgbClr val="C5973A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70248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4133088"/>
            <a:ext cx="7132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Future Work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051560" y="4471416"/>
            <a:ext cx="71323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Incorporate exergy (Second Law) analysis, dynamic OLR optimization, real feedstock gas composition sensing, and integration with a supply chain network model per Potrč et al. (2025).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2560320"/>
            <a:ext cx="2743200" cy="54864"/>
          </a:xfrm>
          <a:prstGeom prst="rect">
            <a:avLst/>
          </a:prstGeom>
          <a:solidFill>
            <a:srgbClr val="C5973A"/>
          </a:solidFill>
          <a:ln w="12700">
            <a:solidFill>
              <a:srgbClr val="C59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Questions?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8C4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 from Group 28.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MEG 315 — Applied Thermodynamics  ·  University of Lagos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0"/>
          </a:xfrm>
          <a:prstGeom prst="line">
            <a:avLst/>
          </a:prstGeom>
          <a:noFill/>
          <a:ln w="12700">
            <a:solidFill>
              <a:srgbClr val="2D5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804672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Potrč, S., Petrovič, A., Egieya, J. M., &amp; Čuček, L. (2025). Valorization of biomass through anaerobic digestion and hydrothermal carbonization: Integrated process flowsheet and supply chain network optimization. Energies, 18(2), 334. https://doi.org/10.3390/en18020334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801368"/>
            <a:ext cx="804672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Moran, M. J., Shapiro, H. N., Boettner, D. D., &amp; Bailey, M. B. (2018). Fundamentals of Engineering Thermodynamics (8th ed.). Wiley.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551176"/>
            <a:ext cx="804672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Çengel, Y. A., &amp; Boles, M. A. (2014). Thermodynamics: An Engineering Approach (8th ed.). McGraw-Hill Education.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3300984"/>
            <a:ext cx="804672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 Libra, J. A., et al. (2011). Hydrothermal carbonization of biomass residuals: A comparative review of the chemistry, processes and applications of wet and dry pyrolysis. Biofuels, 2(1), 71-106.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050792"/>
            <a:ext cx="804672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 Lettinga, G., &amp; Hulshoff Pol, L. W. (1991). UASB-Process design for various types of wastewaters. Water Science and Technology, 24(8), 87-107.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8753</Words>
  <Application>WPS Presentation</Application>
  <PresentationFormat>On-screen Show (16:9)</PresentationFormat>
  <Paragraphs>509</Paragraphs>
  <Slides>17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1" baseType="lpstr">
      <vt:lpstr>Arial</vt:lpstr>
      <vt:lpstr>SimSun</vt:lpstr>
      <vt:lpstr>Wingdings</vt:lpstr>
      <vt:lpstr>Trebuchet MS</vt:lpstr>
      <vt:lpstr>Trebuchet MS</vt:lpstr>
      <vt:lpstr>Trebuchet MS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AD-HTC Integrated Biorefinery — Group 28</dc:title>
  <dc:creator>MEG 315, UNILAG</dc:creator>
  <dc:subject>PptxGenJS Presentation</dc:subject>
  <cp:lastModifiedBy>hamzah dosunmu</cp:lastModifiedBy>
  <cp:revision>4</cp:revision>
  <dcterms:created xsi:type="dcterms:W3CDTF">2026-02-22T20:33:00Z</dcterms:created>
  <dcterms:modified xsi:type="dcterms:W3CDTF">2026-02-24T09:07:10Z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625D0D05EF28422CAE91C0DF894D354D_12</vt:lpwstr>
  </property>
  <property fmtid="{D5CDD505-2E9C-101B-9397-08002B2CF9AE}" pid="3" name="KSOProductBuildVer">
    <vt:lpwstr>1033-12.2.0.23196</vt:lpwstr>
  </property>
</Properties>
</file>